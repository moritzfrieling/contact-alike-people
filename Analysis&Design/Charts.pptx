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3" r:id="rId2"/>
    <p:sldId id="264" r:id="rId3"/>
    <p:sldId id="257" r:id="rId4"/>
    <p:sldId id="256" r:id="rId5"/>
    <p:sldId id="261" r:id="rId6"/>
    <p:sldId id="258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12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Velocity Chart Sprint 7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Tabelle1!$B$1</c:f>
              <c:strCache>
                <c:ptCount val="1"/>
                <c:pt idx="0">
                  <c:v>Team Velocity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cat>
            <c:strRef>
              <c:f>Tabelle1!$A$2:$A$6</c:f>
              <c:strCache>
                <c:ptCount val="5"/>
                <c:pt idx="0">
                  <c:v>Monday</c:v>
                </c:pt>
                <c:pt idx="1">
                  <c:v>Tuesday</c:v>
                </c:pt>
                <c:pt idx="2">
                  <c:v>Wendsday</c:v>
                </c:pt>
                <c:pt idx="3">
                  <c:v>Thursday</c:v>
                </c:pt>
                <c:pt idx="4">
                  <c:v>Friday</c:v>
                </c:pt>
              </c:strCache>
            </c:strRef>
          </c:cat>
          <c:val>
            <c:numRef>
              <c:f>Tabelle1!$B$2:$B$6</c:f>
              <c:numCache>
                <c:formatCode>General</c:formatCode>
                <c:ptCount val="5"/>
                <c:pt idx="0">
                  <c:v>0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  <c:pt idx="4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21A-43E5-818F-49F389BA91CF}"/>
            </c:ext>
          </c:extLst>
        </c:ser>
        <c:ser>
          <c:idx val="0"/>
          <c:order val="1"/>
          <c:tx>
            <c:strRef>
              <c:f>Tabelle1!$C$1</c:f>
              <c:strCache>
                <c:ptCount val="1"/>
                <c:pt idx="0">
                  <c:v>Average Team Velocity</c:v>
                </c:pt>
              </c:strCache>
            </c:strRef>
          </c:tx>
          <c:spPr>
            <a:ln w="28575" cap="rnd">
              <a:solidFill>
                <a:srgbClr val="0070C0"/>
              </a:solidFill>
              <a:prstDash val="lgDash"/>
              <a:round/>
            </a:ln>
            <a:effectLst/>
          </c:spPr>
          <c:marker>
            <c:symbol val="none"/>
          </c:marker>
          <c:cat>
            <c:strRef>
              <c:f>Tabelle1!$A$2:$A$6</c:f>
              <c:strCache>
                <c:ptCount val="5"/>
                <c:pt idx="0">
                  <c:v>Monday</c:v>
                </c:pt>
                <c:pt idx="1">
                  <c:v>Tuesday</c:v>
                </c:pt>
                <c:pt idx="2">
                  <c:v>Wendsday</c:v>
                </c:pt>
                <c:pt idx="3">
                  <c:v>Thursday</c:v>
                </c:pt>
                <c:pt idx="4">
                  <c:v>Friday</c:v>
                </c:pt>
              </c:strCache>
            </c:strRef>
          </c:cat>
          <c:val>
            <c:numRef>
              <c:f>Tabelle1!$C$2:$C$6</c:f>
              <c:numCache>
                <c:formatCode>General</c:formatCode>
                <c:ptCount val="5"/>
                <c:pt idx="0">
                  <c:v>3.4</c:v>
                </c:pt>
                <c:pt idx="1">
                  <c:v>3.4</c:v>
                </c:pt>
                <c:pt idx="2">
                  <c:v>3.4</c:v>
                </c:pt>
                <c:pt idx="3">
                  <c:v>3.4</c:v>
                </c:pt>
                <c:pt idx="4">
                  <c:v>3.4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E6D-4717-AE87-3D8CA0960FEE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Optimal Velocity</c:v>
                </c:pt>
              </c:strCache>
            </c:strRef>
          </c:tx>
          <c:spPr>
            <a:ln w="28575" cap="rnd">
              <a:solidFill>
                <a:schemeClr val="accent3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Tabelle1!$A$2:$A$6</c:f>
              <c:strCache>
                <c:ptCount val="5"/>
                <c:pt idx="0">
                  <c:v>Monday</c:v>
                </c:pt>
                <c:pt idx="1">
                  <c:v>Tuesday</c:v>
                </c:pt>
                <c:pt idx="2">
                  <c:v>Wendsday</c:v>
                </c:pt>
                <c:pt idx="3">
                  <c:v>Thursday</c:v>
                </c:pt>
                <c:pt idx="4">
                  <c:v>Friday</c:v>
                </c:pt>
              </c:strCache>
            </c:strRef>
          </c:cat>
          <c:val>
            <c:numRef>
              <c:f>Tabelle1!$D$2:$D$6</c:f>
              <c:numCache>
                <c:formatCode>General</c:formatCode>
                <c:ptCount val="5"/>
                <c:pt idx="0">
                  <c:v>4.4000000000000004</c:v>
                </c:pt>
                <c:pt idx="1">
                  <c:v>4.4000000000000004</c:v>
                </c:pt>
                <c:pt idx="2">
                  <c:v>4.4000000000000004</c:v>
                </c:pt>
                <c:pt idx="3">
                  <c:v>4.4000000000000004</c:v>
                </c:pt>
                <c:pt idx="4">
                  <c:v>4.4000000000000004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A12-4E93-B445-44B5A41573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0116576"/>
        <c:axId val="160116992"/>
      </c:lineChart>
      <c:catAx>
        <c:axId val="160116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0116992"/>
        <c:crosses val="autoZero"/>
        <c:auto val="1"/>
        <c:lblAlgn val="ctr"/>
        <c:lblOffset val="100"/>
        <c:noMultiLvlLbl val="0"/>
      </c:catAx>
      <c:valAx>
        <c:axId val="160116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0116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Burndown Chart Sprint 7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Tabelle1!$B$1</c:f>
              <c:strCache>
                <c:ptCount val="1"/>
                <c:pt idx="0">
                  <c:v>Team Burn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strRef>
              <c:f>Tabelle1!$A$2:$A$6</c:f>
              <c:strCache>
                <c:ptCount val="5"/>
                <c:pt idx="0">
                  <c:v>Monday</c:v>
                </c:pt>
                <c:pt idx="1">
                  <c:v>Tuesday</c:v>
                </c:pt>
                <c:pt idx="2">
                  <c:v>Wendsday</c:v>
                </c:pt>
                <c:pt idx="3">
                  <c:v>Thursday</c:v>
                </c:pt>
                <c:pt idx="4">
                  <c:v>Friday</c:v>
                </c:pt>
              </c:strCache>
            </c:strRef>
          </c:cat>
          <c:val>
            <c:numRef>
              <c:f>Tabelle1!$B$2:$B$6</c:f>
              <c:numCache>
                <c:formatCode>General</c:formatCode>
                <c:ptCount val="5"/>
                <c:pt idx="0">
                  <c:v>22</c:v>
                </c:pt>
                <c:pt idx="1">
                  <c:v>18</c:v>
                </c:pt>
                <c:pt idx="2">
                  <c:v>16</c:v>
                </c:pt>
                <c:pt idx="3">
                  <c:v>13</c:v>
                </c:pt>
                <c:pt idx="4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21A-43E5-818F-49F389BA91CF}"/>
            </c:ext>
          </c:extLst>
        </c:ser>
        <c:ser>
          <c:idx val="0"/>
          <c:order val="1"/>
          <c:tx>
            <c:strRef>
              <c:f>Tabelle1!$C$1</c:f>
              <c:strCache>
                <c:ptCount val="1"/>
                <c:pt idx="0">
                  <c:v>Optimal Burn</c:v>
                </c:pt>
              </c:strCache>
            </c:strRef>
          </c:tx>
          <c:spPr>
            <a:ln w="28575" cap="rnd">
              <a:solidFill>
                <a:schemeClr val="bg1">
                  <a:lumMod val="50000"/>
                </a:schemeClr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Tabelle1!$A$2:$A$6</c:f>
              <c:strCache>
                <c:ptCount val="5"/>
                <c:pt idx="0">
                  <c:v>Monday</c:v>
                </c:pt>
                <c:pt idx="1">
                  <c:v>Tuesday</c:v>
                </c:pt>
                <c:pt idx="2">
                  <c:v>Wendsday</c:v>
                </c:pt>
                <c:pt idx="3">
                  <c:v>Thursday</c:v>
                </c:pt>
                <c:pt idx="4">
                  <c:v>Friday</c:v>
                </c:pt>
              </c:strCache>
            </c:strRef>
          </c:cat>
          <c:val>
            <c:numRef>
              <c:f>Tabelle1!$C$2:$C$6</c:f>
              <c:numCache>
                <c:formatCode>General</c:formatCode>
                <c:ptCount val="5"/>
                <c:pt idx="0">
                  <c:v>22</c:v>
                </c:pt>
                <c:pt idx="1">
                  <c:v>16.5</c:v>
                </c:pt>
                <c:pt idx="2">
                  <c:v>11</c:v>
                </c:pt>
                <c:pt idx="3">
                  <c:v>5.5</c:v>
                </c:pt>
                <c:pt idx="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E6D-4717-AE87-3D8CA0960F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0116576"/>
        <c:axId val="160116992"/>
      </c:lineChart>
      <c:catAx>
        <c:axId val="160116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0116992"/>
        <c:crosses val="autoZero"/>
        <c:auto val="1"/>
        <c:lblAlgn val="ctr"/>
        <c:lblOffset val="100"/>
        <c:noMultiLvlLbl val="0"/>
      </c:catAx>
      <c:valAx>
        <c:axId val="160116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0116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Velocity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Tabelle1!$B$1</c:f>
              <c:strCache>
                <c:ptCount val="1"/>
                <c:pt idx="0">
                  <c:v>Team-Velocity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strRef>
              <c:f>Tabelle1!$A$2:$A$8</c:f>
              <c:strCache>
                <c:ptCount val="7"/>
                <c:pt idx="1">
                  <c:v>Sprint 1</c:v>
                </c:pt>
                <c:pt idx="2">
                  <c:v>Sprint 2</c:v>
                </c:pt>
                <c:pt idx="3">
                  <c:v>Sprint 3</c:v>
                </c:pt>
                <c:pt idx="4">
                  <c:v>Sprint 4</c:v>
                </c:pt>
                <c:pt idx="5">
                  <c:v>Sprint 5</c:v>
                </c:pt>
                <c:pt idx="6">
                  <c:v>Sprint 6</c:v>
                </c:pt>
              </c:strCache>
            </c:strRef>
          </c:cat>
          <c:val>
            <c:numRef>
              <c:f>Tabelle1!$B$2:$B$8</c:f>
              <c:numCache>
                <c:formatCode>General</c:formatCode>
                <c:ptCount val="7"/>
                <c:pt idx="0">
                  <c:v>0</c:v>
                </c:pt>
                <c:pt idx="1">
                  <c:v>8</c:v>
                </c:pt>
                <c:pt idx="2">
                  <c:v>4</c:v>
                </c:pt>
                <c:pt idx="3">
                  <c:v>3</c:v>
                </c:pt>
                <c:pt idx="4">
                  <c:v>15</c:v>
                </c:pt>
                <c:pt idx="5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21A-43E5-818F-49F389BA91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0116576"/>
        <c:axId val="160116992"/>
      </c:lineChart>
      <c:catAx>
        <c:axId val="160116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0116992"/>
        <c:crosses val="autoZero"/>
        <c:auto val="1"/>
        <c:lblAlgn val="ctr"/>
        <c:lblOffset val="100"/>
        <c:noMultiLvlLbl val="0"/>
      </c:catAx>
      <c:valAx>
        <c:axId val="160116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0116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Burn Down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Sprint 0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Sprints</c:v>
                </c:pt>
              </c:strCache>
            </c:strRef>
          </c:cat>
          <c:val>
            <c:numRef>
              <c:f>Tabelle1!$B$2</c:f>
              <c:numCache>
                <c:formatCode>General</c:formatCode>
                <c:ptCount val="1"/>
                <c:pt idx="0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D1-4A2D-807D-75C45CD24F2F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Sprint 1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Sprints</c:v>
                </c:pt>
              </c:strCache>
            </c:strRef>
          </c:cat>
          <c:val>
            <c:numRef>
              <c:f>Tabelle1!$C$2</c:f>
              <c:numCache>
                <c:formatCode>General</c:formatCode>
                <c:ptCount val="1"/>
                <c:pt idx="0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D1-4A2D-807D-75C45CD24F2F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Sprint 2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Sprints</c:v>
                </c:pt>
              </c:strCache>
            </c:strRef>
          </c:cat>
          <c:val>
            <c:numRef>
              <c:f>Tabelle1!$D$2</c:f>
              <c:numCache>
                <c:formatCode>General</c:formatCode>
                <c:ptCount val="1"/>
                <c:pt idx="0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0D1-4A2D-807D-75C45CD24F2F}"/>
            </c:ext>
          </c:extLst>
        </c:ser>
        <c:ser>
          <c:idx val="3"/>
          <c:order val="3"/>
          <c:tx>
            <c:strRef>
              <c:f>Tabelle1!$E$1</c:f>
              <c:strCache>
                <c:ptCount val="1"/>
                <c:pt idx="0">
                  <c:v>Sprint 3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Sprints</c:v>
                </c:pt>
              </c:strCache>
            </c:strRef>
          </c:cat>
          <c:val>
            <c:numRef>
              <c:f>Tabelle1!$E$2</c:f>
              <c:numCache>
                <c:formatCode>General</c:formatCode>
                <c:ptCount val="1"/>
                <c:pt idx="0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9FC-4732-ACB0-BB739C4B0CA7}"/>
            </c:ext>
          </c:extLst>
        </c:ser>
        <c:ser>
          <c:idx val="4"/>
          <c:order val="4"/>
          <c:tx>
            <c:strRef>
              <c:f>Tabelle1!$F$1</c:f>
              <c:strCache>
                <c:ptCount val="1"/>
                <c:pt idx="0">
                  <c:v>Sprint 4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Sprints</c:v>
                </c:pt>
              </c:strCache>
            </c:strRef>
          </c:cat>
          <c:val>
            <c:numRef>
              <c:f>Tabelle1!$F$2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879-4C3B-A34D-70ACEB223BC6}"/>
            </c:ext>
          </c:extLst>
        </c:ser>
        <c:ser>
          <c:idx val="5"/>
          <c:order val="5"/>
          <c:tx>
            <c:strRef>
              <c:f>Tabelle1!$G$1</c:f>
              <c:strCache>
                <c:ptCount val="1"/>
                <c:pt idx="0">
                  <c:v>Sprint 5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Sprints</c:v>
                </c:pt>
              </c:strCache>
            </c:strRef>
          </c:cat>
          <c:val>
            <c:numRef>
              <c:f>Tabelle1!$G$2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BA-4CAA-B073-AE590EA38E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8220656"/>
        <c:axId val="178220240"/>
      </c:barChart>
      <c:catAx>
        <c:axId val="178220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8220240"/>
        <c:crosses val="autoZero"/>
        <c:auto val="1"/>
        <c:lblAlgn val="ctr"/>
        <c:lblOffset val="100"/>
        <c:noMultiLvlLbl val="0"/>
      </c:catAx>
      <c:valAx>
        <c:axId val="178220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8220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Burn Down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Sprint 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Sprints</c:v>
                </c:pt>
              </c:strCache>
            </c:strRef>
          </c:cat>
          <c:val>
            <c:numRef>
              <c:f>Tabelle1!$B$2</c:f>
              <c:numCache>
                <c:formatCode>General</c:formatCode>
                <c:ptCount val="1"/>
                <c:pt idx="0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D1-4A2D-807D-75C45CD24F2F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Sprint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Sprints</c:v>
                </c:pt>
              </c:strCache>
            </c:strRef>
          </c:cat>
          <c:val>
            <c:numRef>
              <c:f>Tabelle1!$C$2</c:f>
              <c:numCache>
                <c:formatCode>General</c:formatCode>
                <c:ptCount val="1"/>
                <c:pt idx="0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D1-4A2D-807D-75C45CD24F2F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Sprint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Sprints</c:v>
                </c:pt>
              </c:strCache>
            </c:strRef>
          </c:cat>
          <c:val>
            <c:numRef>
              <c:f>Tabelle1!$D$2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0D1-4A2D-807D-75C45CD24F2F}"/>
            </c:ext>
          </c:extLst>
        </c:ser>
        <c:ser>
          <c:idx val="3"/>
          <c:order val="3"/>
          <c:tx>
            <c:strRef>
              <c:f>Tabelle1!$E$1</c:f>
              <c:strCache>
                <c:ptCount val="1"/>
                <c:pt idx="0">
                  <c:v>Sprint 3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Sprints</c:v>
                </c:pt>
              </c:strCache>
            </c:strRef>
          </c:cat>
          <c:val>
            <c:numRef>
              <c:f>Tabelle1!$E$2</c:f>
              <c:numCache>
                <c:formatCode>General</c:formatCode>
                <c:ptCount val="1"/>
                <c:pt idx="0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0D1-4A2D-807D-75C45CD24F2F}"/>
            </c:ext>
          </c:extLst>
        </c:ser>
        <c:ser>
          <c:idx val="4"/>
          <c:order val="4"/>
          <c:tx>
            <c:strRef>
              <c:f>Tabelle1!$F$1</c:f>
              <c:strCache>
                <c:ptCount val="1"/>
                <c:pt idx="0">
                  <c:v>Sprint 4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Sprints</c:v>
                </c:pt>
              </c:strCache>
            </c:strRef>
          </c:cat>
          <c:val>
            <c:numRef>
              <c:f>Tabelle1!$F$2</c:f>
              <c:numCache>
                <c:formatCode>General</c:formatCode>
                <c:ptCount val="1"/>
                <c:pt idx="0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0D1-4A2D-807D-75C45CD24F2F}"/>
            </c:ext>
          </c:extLst>
        </c:ser>
        <c:ser>
          <c:idx val="5"/>
          <c:order val="5"/>
          <c:tx>
            <c:strRef>
              <c:f>Tabelle1!$G$1</c:f>
              <c:strCache>
                <c:ptCount val="1"/>
                <c:pt idx="0">
                  <c:v>Sprint 5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Sprints</c:v>
                </c:pt>
              </c:strCache>
            </c:strRef>
          </c:cat>
          <c:val>
            <c:numRef>
              <c:f>Tabelle1!$G$2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0D1-4A2D-807D-75C45CD24F2F}"/>
            </c:ext>
          </c:extLst>
        </c:ser>
        <c:ser>
          <c:idx val="6"/>
          <c:order val="6"/>
          <c:tx>
            <c:strRef>
              <c:f>Tabelle1!$H$1</c:f>
              <c:strCache>
                <c:ptCount val="1"/>
                <c:pt idx="0">
                  <c:v>Sprint 6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Sprints</c:v>
                </c:pt>
              </c:strCache>
            </c:strRef>
          </c:cat>
          <c:val>
            <c:numRef>
              <c:f>Tabelle1!$H$2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0D1-4A2D-807D-75C45CD24F2F}"/>
            </c:ext>
          </c:extLst>
        </c:ser>
        <c:ser>
          <c:idx val="7"/>
          <c:order val="7"/>
          <c:tx>
            <c:strRef>
              <c:f>Tabelle1!$I$1</c:f>
              <c:strCache>
                <c:ptCount val="1"/>
                <c:pt idx="0">
                  <c:v>Sprint 7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Sprints</c:v>
                </c:pt>
              </c:strCache>
            </c:strRef>
          </c:cat>
          <c:val>
            <c:numRef>
              <c:f>Tabelle1!$I$2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0D1-4A2D-807D-75C45CD24F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8220656"/>
        <c:axId val="178220240"/>
      </c:barChart>
      <c:catAx>
        <c:axId val="178220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8220240"/>
        <c:crosses val="autoZero"/>
        <c:auto val="1"/>
        <c:lblAlgn val="ctr"/>
        <c:lblOffset val="100"/>
        <c:noMultiLvlLbl val="0"/>
      </c:catAx>
      <c:valAx>
        <c:axId val="178220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8220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Use Cases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US-01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Use Cases</c:v>
                </c:pt>
              </c:strCache>
            </c:strRef>
          </c:cat>
          <c:val>
            <c:numRef>
              <c:f>Tabelle1!$B$2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D1-4A2D-807D-75C45CD24F2F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US-02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Use Cases</c:v>
                </c:pt>
              </c:strCache>
            </c:strRef>
          </c:cat>
          <c:val>
            <c:numRef>
              <c:f>Tabelle1!$C$2</c:f>
              <c:numCache>
                <c:formatCode>General</c:formatCode>
                <c:ptCount val="1"/>
                <c:pt idx="0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D1-4A2D-807D-75C45CD24F2F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US-03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Use Cases</c:v>
                </c:pt>
              </c:strCache>
            </c:strRef>
          </c:cat>
          <c:val>
            <c:numRef>
              <c:f>Tabelle1!$D$2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0D1-4A2D-807D-75C45CD24F2F}"/>
            </c:ext>
          </c:extLst>
        </c:ser>
        <c:ser>
          <c:idx val="3"/>
          <c:order val="3"/>
          <c:tx>
            <c:strRef>
              <c:f>Tabelle1!$E$1</c:f>
              <c:strCache>
                <c:ptCount val="1"/>
                <c:pt idx="0">
                  <c:v>US-04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Use Cases</c:v>
                </c:pt>
              </c:strCache>
            </c:strRef>
          </c:cat>
          <c:val>
            <c:numRef>
              <c:f>Tabelle1!$E$2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0D1-4A2D-807D-75C45CD24F2F}"/>
            </c:ext>
          </c:extLst>
        </c:ser>
        <c:ser>
          <c:idx val="4"/>
          <c:order val="4"/>
          <c:tx>
            <c:strRef>
              <c:f>Tabelle1!$F$1</c:f>
              <c:strCache>
                <c:ptCount val="1"/>
                <c:pt idx="0">
                  <c:v>US-05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Use Cases</c:v>
                </c:pt>
              </c:strCache>
            </c:strRef>
          </c:cat>
          <c:val>
            <c:numRef>
              <c:f>Tabelle1!$F$2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0D1-4A2D-807D-75C45CD24F2F}"/>
            </c:ext>
          </c:extLst>
        </c:ser>
        <c:ser>
          <c:idx val="5"/>
          <c:order val="5"/>
          <c:tx>
            <c:strRef>
              <c:f>Tabelle1!$G$1</c:f>
              <c:strCache>
                <c:ptCount val="1"/>
                <c:pt idx="0">
                  <c:v>US-06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Use Cases</c:v>
                </c:pt>
              </c:strCache>
            </c:strRef>
          </c:cat>
          <c:val>
            <c:numRef>
              <c:f>Tabelle1!$G$2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0D1-4A2D-807D-75C45CD24F2F}"/>
            </c:ext>
          </c:extLst>
        </c:ser>
        <c:ser>
          <c:idx val="6"/>
          <c:order val="6"/>
          <c:tx>
            <c:strRef>
              <c:f>Tabelle1!$H$1</c:f>
              <c:strCache>
                <c:ptCount val="1"/>
                <c:pt idx="0">
                  <c:v>US-07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Use Cases</c:v>
                </c:pt>
              </c:strCache>
            </c:strRef>
          </c:cat>
          <c:val>
            <c:numRef>
              <c:f>Tabelle1!$H$2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0D1-4A2D-807D-75C45CD24F2F}"/>
            </c:ext>
          </c:extLst>
        </c:ser>
        <c:ser>
          <c:idx val="7"/>
          <c:order val="7"/>
          <c:tx>
            <c:strRef>
              <c:f>Tabelle1!$I$1</c:f>
              <c:strCache>
                <c:ptCount val="1"/>
                <c:pt idx="0">
                  <c:v>US-08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Use Cases</c:v>
                </c:pt>
              </c:strCache>
            </c:strRef>
          </c:cat>
          <c:val>
            <c:numRef>
              <c:f>Tabelle1!$I$2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0D1-4A2D-807D-75C45CD24F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8220656"/>
        <c:axId val="178220240"/>
      </c:barChart>
      <c:catAx>
        <c:axId val="178220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8220240"/>
        <c:crosses val="autoZero"/>
        <c:auto val="1"/>
        <c:lblAlgn val="ctr"/>
        <c:lblOffset val="100"/>
        <c:noMultiLvlLbl val="0"/>
      </c:catAx>
      <c:valAx>
        <c:axId val="178220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8220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3904A-BFAD-4F39-860A-4DF85D09C48E}" type="datetimeFigureOut">
              <a:rPr lang="en-US" smtClean="0"/>
              <a:t>6/8/2022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AC3EA9-EF3A-4B4D-A2E7-9A779382061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203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AC3EA9-EF3A-4B4D-A2E7-9A77938206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919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AC3EA9-EF3A-4B4D-A2E7-9A779382061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2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AC3EA9-EF3A-4B4D-A2E7-9A779382061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81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real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AC3EA9-EF3A-4B4D-A2E7-9A779382061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529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 err="1"/>
              <a:t>Estimated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AC3EA9-EF3A-4B4D-A2E7-9A779382061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18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Use Case </a:t>
            </a:r>
            <a:r>
              <a:rPr lang="de-DE" dirty="0" err="1"/>
              <a:t>workload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AC3EA9-EF3A-4B4D-A2E7-9A779382061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517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591498-2102-4369-8BA9-557A3CCBB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96A048D-5788-4FDB-ACD2-91193FFD2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EAB921-DBC5-40C7-9E60-CD84E6475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5D3E2-0CA1-42B2-8161-FCA164136949}" type="datetimeFigureOut">
              <a:rPr lang="en-US" smtClean="0"/>
              <a:t>6/8/2022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3AEAB1-521C-41A0-93FB-DCF71B682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B791380-3116-4607-A39E-58184BDB0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8A1E-35FC-48C3-8DDD-85C00EFEDDA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190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43C629-7983-4A5B-970D-367AD7F44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0C5BA0-210B-4C0A-8343-8A4123D71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0AFEA2-AC71-4056-A63F-38FC12676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5D3E2-0CA1-42B2-8161-FCA164136949}" type="datetimeFigureOut">
              <a:rPr lang="en-US" smtClean="0"/>
              <a:t>6/8/2022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DDB511-BEE8-4B56-A275-4943552E4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CA4D3D-39D2-4775-A0D3-AEAA9FABA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8A1E-35FC-48C3-8DDD-85C00EFEDDA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753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78A8C3-D693-4006-BA5F-D1FE3B386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49EAEE-2736-4268-8E58-08C558185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B4C66A-49A7-4B79-8E51-0F780BFDF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5D3E2-0CA1-42B2-8161-FCA164136949}" type="datetimeFigureOut">
              <a:rPr lang="en-US" smtClean="0"/>
              <a:t>6/8/2022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1E85D0-AC49-4A91-A330-502BDC309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93635F-71D7-4F24-ADA4-B7BB1120C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8A1E-35FC-48C3-8DDD-85C00EFEDDA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674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82D265-8FE4-4A99-AB76-C54FB7CEA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B1C651-756B-489B-84AA-9FB5787B43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90BD41E-C8AD-4FA7-9547-494A4B590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D1741B6-CDDC-403E-BFA3-C3F842BF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5D3E2-0CA1-42B2-8161-FCA164136949}" type="datetimeFigureOut">
              <a:rPr lang="en-US" smtClean="0"/>
              <a:t>6/8/2022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F24A704-FF03-4DC4-B269-12E068F6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0427FF-0093-4CD3-9A36-01F0E1548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8A1E-35FC-48C3-8DDD-85C00EFEDDA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84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ECAE51-03C3-441D-9BB7-AA90EA769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729B1E-9793-4E21-8902-077590B46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9254366-071D-448E-8B58-B1BF9712C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F60EE00-A20A-44F9-A438-B9DC6787F5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2A1B4E3-8F20-4F21-98A7-C1FBFB4A27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8C42029-ED0B-4E80-9729-8EC99D79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5D3E2-0CA1-42B2-8161-FCA164136949}" type="datetimeFigureOut">
              <a:rPr lang="en-US" smtClean="0"/>
              <a:t>6/8/2022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292BDC6-C8C1-4665-A5F3-1373A6F5C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5466E3B-AE1D-46EB-A645-A2735FB32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8A1E-35FC-48C3-8DDD-85C00EFEDDA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521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C540ED-6434-4164-B9D7-90B1F0552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896DDB5-A292-42FC-8F45-F449D2F6C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5D3E2-0CA1-42B2-8161-FCA164136949}" type="datetimeFigureOut">
              <a:rPr lang="en-US" smtClean="0"/>
              <a:t>6/8/2022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979C38-F4FA-4376-8A5F-8CB63AB5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D996BB0-BF2F-42EB-9A10-46F27ECD3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8A1E-35FC-48C3-8DDD-85C00EFEDDA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917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EEE4C97-0430-4F6A-B20A-DC73D6637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5D3E2-0CA1-42B2-8161-FCA164136949}" type="datetimeFigureOut">
              <a:rPr lang="en-US" smtClean="0"/>
              <a:t>6/8/2022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957066F-DC92-4A12-BB9A-EEEAA7BE1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E97E70-97E8-4D9A-8381-282171F14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8A1E-35FC-48C3-8DDD-85C00EFEDDA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08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813A97-EEE4-4FAF-8F74-754D5C239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114418-A30C-451F-8FAA-C22EB6A86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2F711D8-E72B-4A1B-BE46-2AD4533368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4CBA9E4-C20A-482C-B3D1-73FA452BF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5D3E2-0CA1-42B2-8161-FCA164136949}" type="datetimeFigureOut">
              <a:rPr lang="en-US" smtClean="0"/>
              <a:t>6/8/2022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86D3A51-95E8-4F0B-B1F5-D5C4B5511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1636DE6-72F2-4C93-94BB-5AF373C55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8A1E-35FC-48C3-8DDD-85C00EFEDDA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940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7FD243-BE4F-41D6-9F0D-34536FFF0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4FAD7D7-A6BD-42EC-9828-B34437DF73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5B8236F-1488-432B-BD18-7B4A6BC50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05DF84F-815C-47C1-AE06-7A7A2252C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5D3E2-0CA1-42B2-8161-FCA164136949}" type="datetimeFigureOut">
              <a:rPr lang="en-US" smtClean="0"/>
              <a:t>6/8/2022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771645A-DB91-4AB9-9E0C-7F8BDEDF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8AEF9AF-A443-4D4D-9C74-775A20BB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8A1E-35FC-48C3-8DDD-85C00EFEDDA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30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CD23D8-0982-4A44-83F0-C5FAEA59E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706B1B8-660D-4A02-9893-9279A31CCE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A7E68F-D66A-4B78-9C3E-943366815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5D3E2-0CA1-42B2-8161-FCA164136949}" type="datetimeFigureOut">
              <a:rPr lang="en-US" smtClean="0"/>
              <a:t>6/8/2022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954899-51AA-41A7-AA10-120EAA75F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239094-6F89-4F8E-845E-050A40F6E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8A1E-35FC-48C3-8DDD-85C00EFEDDA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1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8E9BF6E-CDE0-40CD-9DED-57CAE2510D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5025EEB-F897-41BF-8C04-D72142E2A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A4099C-AB8C-435B-8CB7-131BFCAD1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5D3E2-0CA1-42B2-8161-FCA164136949}" type="datetimeFigureOut">
              <a:rPr lang="en-US" smtClean="0"/>
              <a:t>6/8/2022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2FF602-CB3F-41E1-AB4D-10C5021B8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2D6DC6-67A8-4F8B-9F79-210F54C2C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8A1E-35FC-48C3-8DDD-85C00EFEDDA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1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694A17B-4706-4673-8B01-900BA238F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C2BD36E-6E81-4050-816F-FC92A98F0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F5448B-40E3-46AC-89CF-5509087FA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5D3E2-0CA1-42B2-8161-FCA164136949}" type="datetimeFigureOut">
              <a:rPr lang="en-US" smtClean="0"/>
              <a:t>6/8/2022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89950C-111D-45E1-B624-694BEA2D7B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DAAF12-AF67-4644-88AD-A0431FE887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C8A1E-35FC-48C3-8DDD-85C00EFEDDA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54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Inhaltsplatzhalter 7">
            <a:extLst>
              <a:ext uri="{FF2B5EF4-FFF2-40B4-BE49-F238E27FC236}">
                <a16:creationId xmlns:a16="http://schemas.microsoft.com/office/drawing/2014/main" id="{D9AB3B71-8636-4472-857D-541B40D867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3774856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86212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Inhaltsplatzhalter 7">
            <a:extLst>
              <a:ext uri="{FF2B5EF4-FFF2-40B4-BE49-F238E27FC236}">
                <a16:creationId xmlns:a16="http://schemas.microsoft.com/office/drawing/2014/main" id="{D9AB3B71-8636-4472-857D-541B40D867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7882804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90687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C97B26-9632-4337-ABCD-3369A506A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Velocity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Burndown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52187B-F912-4732-BF38-7DF89A92A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Velocity –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much</a:t>
            </a:r>
            <a:r>
              <a:rPr lang="de-DE" dirty="0"/>
              <a:t> was </a:t>
            </a:r>
            <a:r>
              <a:rPr lang="de-DE" dirty="0" err="1"/>
              <a:t>done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Burndown</a:t>
            </a:r>
            <a:r>
              <a:rPr lang="de-DE" dirty="0"/>
              <a:t> –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much</a:t>
            </a:r>
            <a:r>
              <a:rPr lang="de-DE" dirty="0"/>
              <a:t> </a:t>
            </a: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been</a:t>
            </a:r>
            <a:r>
              <a:rPr lang="de-DE" dirty="0"/>
              <a:t> </a:t>
            </a:r>
            <a:r>
              <a:rPr lang="de-DE" dirty="0" err="1"/>
              <a:t>done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whole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08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Inhaltsplatzhalter 7">
            <a:extLst>
              <a:ext uri="{FF2B5EF4-FFF2-40B4-BE49-F238E27FC236}">
                <a16:creationId xmlns:a16="http://schemas.microsoft.com/office/drawing/2014/main" id="{D9AB3B71-8636-4472-857D-541B40D867B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EC6E5AC6-72C7-4F4C-89BF-BEB45089C437}"/>
              </a:ext>
            </a:extLst>
          </p:cNvPr>
          <p:cNvSpPr/>
          <p:nvPr/>
        </p:nvSpPr>
        <p:spPr>
          <a:xfrm>
            <a:off x="2865508" y="3339213"/>
            <a:ext cx="45719" cy="45719"/>
          </a:xfrm>
          <a:prstGeom prst="ellipse">
            <a:avLst/>
          </a:prstGeom>
          <a:solidFill>
            <a:schemeClr val="accent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69DAA8E-6977-44D6-960E-62A930073946}"/>
              </a:ext>
            </a:extLst>
          </p:cNvPr>
          <p:cNvSpPr/>
          <p:nvPr/>
        </p:nvSpPr>
        <p:spPr>
          <a:xfrm>
            <a:off x="1178768" y="6150294"/>
            <a:ext cx="45719" cy="45719"/>
          </a:xfrm>
          <a:prstGeom prst="ellipse">
            <a:avLst/>
          </a:prstGeom>
          <a:solidFill>
            <a:schemeClr val="accent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3FDF905-91D0-42D1-95FF-6E5F4CA19C3B}"/>
              </a:ext>
            </a:extLst>
          </p:cNvPr>
          <p:cNvSpPr/>
          <p:nvPr/>
        </p:nvSpPr>
        <p:spPr>
          <a:xfrm>
            <a:off x="4515043" y="4727282"/>
            <a:ext cx="45719" cy="45719"/>
          </a:xfrm>
          <a:prstGeom prst="ellipse">
            <a:avLst/>
          </a:prstGeom>
          <a:solidFill>
            <a:schemeClr val="accent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954F7F7-6B95-4577-BF94-8399FE05D108}"/>
              </a:ext>
            </a:extLst>
          </p:cNvPr>
          <p:cNvSpPr/>
          <p:nvPr/>
        </p:nvSpPr>
        <p:spPr>
          <a:xfrm>
            <a:off x="6184136" y="5089003"/>
            <a:ext cx="45719" cy="45719"/>
          </a:xfrm>
          <a:prstGeom prst="ellipse">
            <a:avLst/>
          </a:prstGeom>
          <a:solidFill>
            <a:schemeClr val="accent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03A618F-2874-41A6-92B5-1629CFEA0138}"/>
              </a:ext>
            </a:extLst>
          </p:cNvPr>
          <p:cNvSpPr/>
          <p:nvPr/>
        </p:nvSpPr>
        <p:spPr>
          <a:xfrm>
            <a:off x="7867881" y="900758"/>
            <a:ext cx="45719" cy="45719"/>
          </a:xfrm>
          <a:prstGeom prst="ellipse">
            <a:avLst/>
          </a:prstGeom>
          <a:solidFill>
            <a:schemeClr val="accent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03D8BD-5065-4ADD-B4CA-FE2E7399788A}"/>
              </a:ext>
            </a:extLst>
          </p:cNvPr>
          <p:cNvSpPr/>
          <p:nvPr/>
        </p:nvSpPr>
        <p:spPr>
          <a:xfrm>
            <a:off x="9540609" y="3003144"/>
            <a:ext cx="45719" cy="45719"/>
          </a:xfrm>
          <a:prstGeom prst="ellipse">
            <a:avLst/>
          </a:prstGeom>
          <a:solidFill>
            <a:schemeClr val="accent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22CF00-03CD-4E14-A651-45FAF25D6BDE}"/>
              </a:ext>
            </a:extLst>
          </p:cNvPr>
          <p:cNvSpPr txBox="1"/>
          <p:nvPr/>
        </p:nvSpPr>
        <p:spPr>
          <a:xfrm>
            <a:off x="615972" y="6207030"/>
            <a:ext cx="11993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Begin </a:t>
            </a:r>
            <a:r>
              <a:rPr lang="de-DE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of</a:t>
            </a:r>
            <a:r>
              <a:rPr lang="de-DE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project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6BC6C5-C382-43E7-8F54-C69C1162142C}"/>
              </a:ext>
            </a:extLst>
          </p:cNvPr>
          <p:cNvSpPr txBox="1"/>
          <p:nvPr/>
        </p:nvSpPr>
        <p:spPr>
          <a:xfrm>
            <a:off x="2759178" y="3054181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8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D91D89-6809-4EB5-9D0A-3A5CE63B48B6}"/>
              </a:ext>
            </a:extLst>
          </p:cNvPr>
          <p:cNvSpPr txBox="1"/>
          <p:nvPr/>
        </p:nvSpPr>
        <p:spPr>
          <a:xfrm>
            <a:off x="4407889" y="4450283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53BD74-BD45-461B-BFA3-730492F4F756}"/>
              </a:ext>
            </a:extLst>
          </p:cNvPr>
          <p:cNvSpPr txBox="1"/>
          <p:nvPr/>
        </p:nvSpPr>
        <p:spPr>
          <a:xfrm>
            <a:off x="6087615" y="5131261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15D246-2F2B-4952-8B0B-957B2A0C683D}"/>
              </a:ext>
            </a:extLst>
          </p:cNvPr>
          <p:cNvSpPr txBox="1"/>
          <p:nvPr/>
        </p:nvSpPr>
        <p:spPr>
          <a:xfrm>
            <a:off x="7727234" y="634392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15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1C1196-DBD4-49F8-9C79-181E46D535E0}"/>
              </a:ext>
            </a:extLst>
          </p:cNvPr>
          <p:cNvSpPr txBox="1"/>
          <p:nvPr/>
        </p:nvSpPr>
        <p:spPr>
          <a:xfrm>
            <a:off x="9444088" y="3070963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9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4697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Inhaltsplatzhalter 12">
            <a:extLst>
              <a:ext uri="{FF2B5EF4-FFF2-40B4-BE49-F238E27FC236}">
                <a16:creationId xmlns:a16="http://schemas.microsoft.com/office/drawing/2014/main" id="{7E189054-5B7D-4B92-B1BB-23BE5608AAD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BDCBB3F-6642-4492-B89B-188EDAE2AF2D}"/>
              </a:ext>
            </a:extLst>
          </p:cNvPr>
          <p:cNvSpPr txBox="1"/>
          <p:nvPr/>
        </p:nvSpPr>
        <p:spPr>
          <a:xfrm>
            <a:off x="2163754" y="810709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41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715235-D3B5-4C0C-9D2B-F79D92B5A4FE}"/>
              </a:ext>
            </a:extLst>
          </p:cNvPr>
          <p:cNvSpPr txBox="1"/>
          <p:nvPr/>
        </p:nvSpPr>
        <p:spPr>
          <a:xfrm>
            <a:off x="3719652" y="1654226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34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2644B5-A370-4209-91B3-EFFA36246DD0}"/>
              </a:ext>
            </a:extLst>
          </p:cNvPr>
          <p:cNvSpPr txBox="1"/>
          <p:nvPr/>
        </p:nvSpPr>
        <p:spPr>
          <a:xfrm>
            <a:off x="5254287" y="2136235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30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6420F3-C432-4D97-9639-787B96F75A44}"/>
              </a:ext>
            </a:extLst>
          </p:cNvPr>
          <p:cNvSpPr txBox="1"/>
          <p:nvPr/>
        </p:nvSpPr>
        <p:spPr>
          <a:xfrm>
            <a:off x="6810185" y="2522551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27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CEFA13-CC72-4A57-97D2-AEBD56A39DFA}"/>
              </a:ext>
            </a:extLst>
          </p:cNvPr>
          <p:cNvSpPr txBox="1"/>
          <p:nvPr/>
        </p:nvSpPr>
        <p:spPr>
          <a:xfrm>
            <a:off x="8376715" y="4035917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15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5FB79B-E108-470E-B107-0261E83996ED}"/>
              </a:ext>
            </a:extLst>
          </p:cNvPr>
          <p:cNvSpPr txBox="1"/>
          <p:nvPr/>
        </p:nvSpPr>
        <p:spPr>
          <a:xfrm>
            <a:off x="9953878" y="490069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8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3916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Inhaltsplatzhalter 12">
            <a:extLst>
              <a:ext uri="{FF2B5EF4-FFF2-40B4-BE49-F238E27FC236}">
                <a16:creationId xmlns:a16="http://schemas.microsoft.com/office/drawing/2014/main" id="{7E189054-5B7D-4B92-B1BB-23BE5608AAD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71AADEA1-5F62-4196-AA07-497AD95FADD2}"/>
              </a:ext>
            </a:extLst>
          </p:cNvPr>
          <p:cNvCxnSpPr>
            <a:cxnSpLocks/>
          </p:cNvCxnSpPr>
          <p:nvPr/>
        </p:nvCxnSpPr>
        <p:spPr>
          <a:xfrm>
            <a:off x="1450110" y="452587"/>
            <a:ext cx="9966035" cy="56434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819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Inhaltsplatzhalter 12">
            <a:extLst>
              <a:ext uri="{FF2B5EF4-FFF2-40B4-BE49-F238E27FC236}">
                <a16:creationId xmlns:a16="http://schemas.microsoft.com/office/drawing/2014/main" id="{7E189054-5B7D-4B92-B1BB-23BE5608AAD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61896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Office PowerPoint</Application>
  <PresentationFormat>Breitbild</PresentationFormat>
  <Paragraphs>31</Paragraphs>
  <Slides>7</Slides>
  <Notes>6</Notes>
  <HiddenSlides>4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Velocity vs Burndown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Häfen,Jonas J.A. von</dc:creator>
  <cp:lastModifiedBy>Häfen,Jonas J.A. von</cp:lastModifiedBy>
  <cp:revision>22</cp:revision>
  <dcterms:created xsi:type="dcterms:W3CDTF">2022-04-06T12:42:04Z</dcterms:created>
  <dcterms:modified xsi:type="dcterms:W3CDTF">2022-06-08T10:26:49Z</dcterms:modified>
</cp:coreProperties>
</file>